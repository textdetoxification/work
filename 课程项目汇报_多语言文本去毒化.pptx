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基于 mt0-Large 的多语言文本去毒化系统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200400" y="2834640"/>
            <a:ext cx="5486400" cy="0"/>
          </a:xfrm>
          <a:prstGeom prst="line">
            <a:avLst/>
          </a:prstGeom>
          <a:ln w="381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371600" y="3200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E8E8E8"/>
                </a:solidFill>
                <a:latin typeface="Microsoft YaHei"/>
              </a:defRPr>
            </a:pPr>
            <a:r>
              <a:t>自然语言处理  课程项目汇报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8E8E8"/>
                </a:solidFill>
                <a:latin typeface="Microsoft YaHei"/>
              </a:defRPr>
            </a:pPr>
            <a:r>
              <a:t>计算机与大数据学院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8E8"/>
                </a:solidFill>
                <a:latin typeface="Microsoft YaHei"/>
              </a:defRPr>
            </a:pPr>
            <a:r>
              <a:t>2025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研究背景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3840480" cy="0"/>
          </a:xfrm>
          <a:prstGeom prst="line">
            <a:avLst/>
          </a:prstGeom>
          <a:ln w="254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Microsoft YaHei"/>
              </a:defRPr>
            </a:pPr>
            <a:r>
              <a:t>Text Detoxification: Background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Microsoft YaHei"/>
              </a:defRPr>
            </a:pPr>
            <a:r>
              <a:t>社交媒体每天产生海量用户内容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Microsoft YaHei"/>
              </a:defRPr>
            </a:pPr>
            <a:r>
              <a:t>有毒言论普遍存在，影响用户体验和心理健康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Microsoft YaHei"/>
              </a:defRPr>
            </a:pPr>
            <a:r>
              <a:t>自动文本去毒化：将有毒文本改写为中性、文明的表达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Microsoft YaHei"/>
              </a:defRPr>
            </a:pPr>
            <a:r>
              <a:t>需要同时满足：清除有害内容、保留语义、维持流畅性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Microsoft YaHei"/>
              </a:defRPr>
            </a:pPr>
            <a:r>
              <a:t>覆盖 15 种语言的多语言去毒任务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6B35"/>
                </a:solidFill>
                <a:latin typeface="Microsoft YaHei"/>
              </a:defRPr>
            </a:pPr>
            <a:r>
              <a:t>Example 示例</a:t>
            </a:r>
          </a:p>
          <a:p>
            <a:pPr>
              <a:spcAft>
                <a:spcPts val="800"/>
              </a:spcAft>
              <a:defRPr sz="1400">
                <a:solidFill>
                  <a:srgbClr val="FF6B35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FF6B35"/>
                </a:solidFill>
                <a:latin typeface="Microsoft YaHei"/>
              </a:defRPr>
            </a:pPr>
            <a:r>
              <a:t>Toxic: "you made a mistake you ass"</a:t>
            </a:r>
          </a:p>
          <a:p>
            <a:pPr>
              <a:spcAft>
                <a:spcPts val="800"/>
              </a:spcAft>
              <a:defRPr sz="1400">
                <a:solidFill>
                  <a:srgbClr val="FF6B35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FF6B35"/>
                </a:solidFill>
                <a:latin typeface="Microsoft YaHei"/>
              </a:defRPr>
            </a:pPr>
            <a:r>
              <a:t>Neutral: "you made a mistake"</a:t>
            </a:r>
          </a:p>
          <a:p>
            <a:pPr>
              <a:spcAft>
                <a:spcPts val="800"/>
              </a:spcAft>
              <a:defRPr sz="1400">
                <a:solidFill>
                  <a:srgbClr val="FF6B35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FF6B35"/>
                </a:solidFill>
                <a:latin typeface="Microsoft YaHei"/>
              </a:defRPr>
            </a:pPr>
            <a:r>
              <a:t>Toxic: "fuck minimum security, put him in real prison"</a:t>
            </a:r>
          </a:p>
          <a:p>
            <a:pPr>
              <a:spcAft>
                <a:spcPts val="800"/>
              </a:spcAft>
              <a:defRPr sz="1400">
                <a:solidFill>
                  <a:srgbClr val="FF6B35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FF6B35"/>
                </a:solidFill>
                <a:latin typeface="Microsoft YaHei"/>
              </a:defRPr>
            </a:pPr>
            <a:r>
              <a:t>Neutral: "put him in real prison"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核心挑战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3840480" cy="0"/>
          </a:xfrm>
          <a:prstGeom prst="line">
            <a:avLst/>
          </a:prstGeom>
          <a:ln w="254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Microsoft YaHei"/>
              </a:defRPr>
            </a:pPr>
            <a:r>
              <a:t>Key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Microsoft YaHei"/>
              </a:defRPr>
            </a:pPr>
            <a:r>
              <a:t>挑战一：词汇重叠度高 —— 有毒文本与中性文本在某些语言中词汇重叠可达 80%，模型容易退化为简单复制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Microsoft YaHei"/>
              </a:defRPr>
            </a:pPr>
            <a:r>
              <a:t>挑战二：语言和文化依赖性 —— 同一词汇在不同语言中的毒性程度差异巨大（如 "pig" 在英语中可指警察，在中文中无此义）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Microsoft YaHei"/>
              </a:defRPr>
            </a:pPr>
            <a:r>
              <a:t>挑战三：多目标权衡 —— 去毒化需同时满足语义保留、语法正确、流畅自然三个目标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Microsoft YaHei"/>
              </a:defRPr>
            </a:pPr>
            <a:r>
              <a:t>挑战四：低资源语言泛化 —— 训练数据仅覆盖 9 种语言，需向未见过的语言泛化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相关工作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3840480" cy="0"/>
          </a:xfrm>
          <a:prstGeom prst="line">
            <a:avLst/>
          </a:prstGeom>
          <a:ln w="254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Microsoft YaHei"/>
              </a:defRPr>
            </a:pPr>
            <a:r>
              <a:t>Related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Microsoft YaHei"/>
              </a:defRPr>
            </a:pPr>
            <a:r>
              <a:t>文本去毒化方法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基于词典：检测 + 删除/替换有害词汇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基于神经网络：Seq2Seq 端到端改写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ParaDetox 基准数据集 (Dale et al., 2021)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GPT-3.5 零样本去毒 (Hallinan et al., 2023)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59" y="1828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Microsoft YaHei"/>
              </a:defRPr>
            </a:pPr>
            <a:r>
              <a:t>参数高效微调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5603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全参数微调：成本高、存储大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LoRA: 低秩分解 W = BA (Hu et al., 2022)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仅训练 1.5% 参数，无推理延迟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本项目：r=32, 目标 [q,k,v,o]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Microsoft YaHei"/>
              </a:defRPr>
            </a:pPr>
            <a:r>
              <a:t>多语言模型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5603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mT5: 101 语言预训练 (Xue et al., 2021)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mt0: mT5 + 多语言指令微调 (xP3)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NLLB-200: 200 种语言翻译 (Meta, 2022)</a:t>
            </a:r>
          </a:p>
          <a:p>
            <a:pPr>
              <a:spcAft>
                <a:spcPts val="12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本项目：mt0-large + NLLB-600M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系统架构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3840480" cy="0"/>
          </a:xfrm>
          <a:prstGeom prst="line">
            <a:avLst/>
          </a:prstGeom>
          <a:ln w="254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Microsoft YaHei"/>
              </a:defRPr>
            </a:pPr>
            <a:r>
              <a:t>System Architecture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Microsoft YaHei"/>
              </a:defRPr>
            </a:pPr>
            <a:r>
              <a:t>训练语言 (9种: am,ar,de,en,es,hi,ru,uk,zh)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688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FFFFFF"/>
                </a:solidFill>
                <a:latin typeface="Microsoft YaHei"/>
              </a:defRPr>
            </a:pPr>
            <a:r>
              <a:t>Toxic Text  --&gt;  [mt0-large + LoRA 去毒模型]  --&gt;  [有害词后处理]  --&gt;  Neutral 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A878"/>
                </a:solidFill>
                <a:latin typeface="Microsoft YaHei"/>
              </a:defRPr>
            </a:pPr>
            <a:r>
              <a:t>零资源语言 (6种: fr,he,it,ja,tt,hin)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Toxic Text  --&gt;  [NLLB 翻译]  --&gt;  English Toxic  --&gt;  [mt0-large 去毒]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   --&gt;  English Neutral  --&gt;  [NLLB 回译]  --&gt;  [有害词后处理]  --&gt;  Neutral Text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三个核心模块：mt0-large + LoRA | NLLB-200 回译管道 | 多语言有害词后处理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去毒模型设计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3840480" cy="0"/>
          </a:xfrm>
          <a:prstGeom prst="line">
            <a:avLst/>
          </a:prstGeom>
          <a:ln w="254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Microsoft YaHei"/>
              </a:defRPr>
            </a:pPr>
            <a:r>
              <a:t>Detox Model: mt0-large + LoRA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Microsoft YaHei"/>
              </a:defRPr>
            </a:pPr>
            <a:r>
              <a:t>模型架构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基座: bigscience/mt0-large (1.2B)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Encoder-Decoder Transformer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12 层编码器 + 12 层解码器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d_model=1024, 16 heads, d_ff=2816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输入格式: "detoxify: {有毒文本}"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输出: 对应的中性文本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Microsoft YaHei"/>
              </a:defRPr>
            </a:pPr>
            <a:r>
              <a:t>LoRA 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5603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秩 r = 32, 缩放 alpha = 64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Dropout = 0.1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目标模块: [q, k, v, o]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可训练参数: 18.9M / 1.25B = 1.51%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显存需求: ~12GB (A40 48GB)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训练速度: 约 1 it/s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8E8E8"/>
                </a:solidFill>
                <a:latin typeface="Microsoft YaHei"/>
              </a:defRPr>
            </a:pPr>
            <a:r>
              <a:t>Loss = L_CE + lambda * L_contrastive   |   lambda = 0.15, tau = 0.05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有监督对比学习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3840480" cy="0"/>
          </a:xfrm>
          <a:prstGeom prst="line">
            <a:avLst/>
          </a:prstGeom>
          <a:ln w="254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Microsoft YaHei"/>
              </a:defRPr>
            </a:pPr>
            <a:r>
              <a:t>Supervised Contrastive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Microsoft YaHei"/>
              </a:defRPr>
            </a:pPr>
            <a:r>
              <a:t>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模型容易退化为简单复制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仅删除明显有害词，不做语义改写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原始 SimCSE: 同一输入 x2 dropout  -&gt; 仅增强鲁棒性，对去毒无帮助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A878"/>
                </a:solidFill>
                <a:latin typeface="Microsoft YaHei"/>
              </a:defRPr>
            </a:pPr>
            <a:r>
              <a:t>我们的方案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有监督对比: toxic 编码 &lt;--&gt; neutral 编码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NT-Xent 损失: 正对拉近, 负对推远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直接建模 toxic -&gt; neutral 语义映射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Microsoft YaHei"/>
              </a:defRPr>
            </a:pPr>
            <a:r>
              <a:t>实现细节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1. 编码 toxic text x -&gt; h_toxic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2. 编码 neutral text y -&gt; h_neutral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3. Projection Head (MLP): 1024 -&gt; 1024 -&gt; 256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4. z_toxic, z_neutral (L2 normalized)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5. L_contrastive = NT-Xent(z_toxic, z_neutral)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   Sim[i,j] = z_i dot z_j / tau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   Positive pair: (toxic_i, neutral_i)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   Negatives: all other 2B-2 pairs in batch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训练配置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3840480" cy="0"/>
          </a:xfrm>
          <a:prstGeom prst="line">
            <a:avLst/>
          </a:prstGeom>
          <a:ln w="254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Microsoft YaHei"/>
              </a:defRPr>
            </a:pPr>
            <a:r>
              <a:t>Training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Microsoft YaHei"/>
              </a:defRPr>
            </a:pPr>
            <a:r>
              <a:t>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原始: 9 语言 x 400 对 = 3,600 对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+ 跨语言增强 (NLLB 翻译)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+ LLM 增强 (DeepSeek API)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最终: ~9,000 训练样本 (1,000/语言)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80/20 训练/验证分层划分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A878"/>
                </a:solidFill>
                <a:latin typeface="Microsoft YaHei"/>
              </a:defRPr>
            </a:pPr>
            <a:r>
              <a:t>推理配置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Beam Search (beam=5)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repetition_penalty=1.5, length_penalty=0.8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no_repeat_ngram_size=3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Microsoft YaHei"/>
              </a:defRPr>
            </a:pPr>
            <a:r>
              <a:t>超参数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GPU: NVIDIA A40 (48GB)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Batch size: 8 x 4 grad accum = 32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Learning rate: 3e-4 (AdamW)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Weight decay: 0.01, warmup: 100 steps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Max epochs: 15, Early Stopping patience=5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Max sequence length: 256 tokens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LoRA: r=32, alpha=64, dropout=0.1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Contrastive: lambda=0.15, tau=0.05, dim=256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实验结果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3840480" cy="0"/>
          </a:xfrm>
          <a:prstGeom prst="line">
            <a:avLst/>
          </a:prstGeom>
          <a:ln w="254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Microsoft YaHei"/>
              </a:defRPr>
            </a:pPr>
            <a:r>
              <a:t>Experimental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系统在全部 15 种语言上均能有效完成去毒任务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训练语言的去毒效果显著优于零资源语言，验证了微调的有效性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  - 英语效果最佳（mt0-large 预训练数据中英语占比最大）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中文、日语等与英语差异大的语言在回译管道中可能出现语义漂移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  - 有害词后处理模块可有效兜底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有监督对比学习使模型更倾向于语义改写而非简单删除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  - 生成文本更加自然流畅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repetition_penalty + length_penalty 有效抑制简单复制行为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消融实验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3840480" cy="0"/>
          </a:xfrm>
          <a:prstGeom prst="line">
            <a:avLst/>
          </a:prstGeom>
          <a:ln w="254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Microsoft YaHei"/>
              </a:defRPr>
            </a:pPr>
            <a:r>
              <a:t>Ablation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去除对比学习 (lambda=0):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  -&gt; 模型直接复制大部分输入，仅替换最明显有害词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  -&gt; 验证了有监督对比学习的必要性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去除有害词后处理: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  -&gt; 输出中残留少量有害词（不常见俚语和方言）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  -&gt; 纯神经网络方法在长尾有害表达上存在局限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使用 mT5-base 替代 mt0-large: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  -&gt; 对 "detoxify:" 前缀理解不足，生成质量不稳定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  -&gt; 验证了指令微调模型在该任务上的关键作用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总结与展望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188720"/>
            <a:ext cx="3840480" cy="0"/>
          </a:xfrm>
          <a:prstGeom prst="line">
            <a:avLst/>
          </a:prstGeom>
          <a:ln w="254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Microsoft YaHei"/>
              </a:defRPr>
            </a:pPr>
            <a:r>
              <a:t>Summary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A878"/>
                </a:solidFill>
                <a:latin typeface="Microsoft YaHei"/>
              </a:defRPr>
            </a:pPr>
            <a:r>
              <a:t>主要贡献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将 mt0-large 指令微调模型引入去毒化任务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提出有监督对比学习，抑制简单复制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回译管道实现零资源语言泛化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有害词后处理提供可解释性保障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Microsoft YaHei"/>
              </a:defRPr>
            </a:pPr>
            <a:r>
              <a:t>未来方向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860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引入 RLHF 优化去毒质量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探索更大模型 (mt0-xxl) + 多任务学习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扩展更多低资源语言 (mt0 支持 46 种)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量化部署 (INT8/INT4) 减少推理延迟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细粒度毒性分类 + 对应去毒策略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43600" y="2011680"/>
            <a:ext cx="0" cy="3931920"/>
          </a:xfrm>
          <a:prstGeom prst="line">
            <a:avLst/>
          </a:prstGeom>
          <a:ln w="1270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谢谢！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Microsoft YaHei"/>
              </a:defRPr>
            </a:pPr>
            <a:r>
              <a:t>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8E8E8"/>
                </a:solidFill>
                <a:latin typeface="Microsoft YaHei"/>
              </a:defRPr>
            </a:pPr>
            <a:r>
              <a:t>基于 mt0-Large 的多语言文本去毒化系统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