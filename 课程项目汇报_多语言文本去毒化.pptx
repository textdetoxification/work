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基于 mt0-Large 的多语言文本去毒化系统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200400" y="2834640"/>
            <a:ext cx="5486400" cy="0"/>
          </a:xfrm>
          <a:prstGeom prst="line">
            <a:avLst/>
          </a:prstGeom>
          <a:ln w="381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8E8"/>
                </a:solidFill>
                <a:latin typeface="Microsoft YaHei"/>
              </a:defRPr>
            </a:pPr>
            <a:r>
              <a:t>自然语言处理  课程项目汇报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8E8"/>
                </a:solidFill>
                <a:latin typeface="Microsoft YaHei"/>
              </a:defRPr>
            </a:pPr>
            <a:r>
              <a:t>计算机与大数据学院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2025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研究背景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188720"/>
            <a:ext cx="384048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Text Detoxification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社交媒体每天产生海量用户内容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有毒言论普遍存在，影响用户体验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自动文本去毒化：改写为中性文明表达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需同时满足：清除有害 / 保留语义 / 维持流畅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覆盖 15 种语言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6B35"/>
                </a:solidFill>
                <a:latin typeface="Microsoft YaHei"/>
              </a:defRPr>
            </a:pPr>
            <a:r>
              <a:t>示例</a:t>
            </a:r>
          </a:p>
          <a:p>
            <a:pPr>
              <a:spcAft>
                <a:spcPts val="600"/>
              </a:spcAft>
              <a:defRPr sz="1400">
                <a:solidFill>
                  <a:srgbClr val="FF6B35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6B35"/>
                </a:solidFill>
                <a:latin typeface="Microsoft YaHei"/>
              </a:defRPr>
            </a:pPr>
            <a:r>
              <a:t>Toxic: "you made a mistake you ass"</a:t>
            </a:r>
          </a:p>
          <a:p>
            <a:pPr>
              <a:spcAft>
                <a:spcPts val="600"/>
              </a:spcAft>
              <a:defRPr sz="1400">
                <a:solidFill>
                  <a:srgbClr val="FF6B35"/>
                </a:solidFill>
                <a:latin typeface="Microsoft YaHei"/>
              </a:defRPr>
            </a:pPr>
            <a:r>
              <a:t>-&gt; "you made a mistake"</a:t>
            </a:r>
          </a:p>
          <a:p>
            <a:pPr>
              <a:spcAft>
                <a:spcPts val="600"/>
              </a:spcAft>
              <a:defRPr sz="1400">
                <a:solidFill>
                  <a:srgbClr val="FF6B35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6B35"/>
                </a:solidFill>
                <a:latin typeface="Microsoft YaHei"/>
              </a:defRPr>
            </a:pPr>
            <a:r>
              <a:t>Toxic: "fuck minimum security"</a:t>
            </a:r>
          </a:p>
          <a:p>
            <a:pPr>
              <a:spcAft>
                <a:spcPts val="600"/>
              </a:spcAft>
              <a:defRPr sz="1400">
                <a:solidFill>
                  <a:srgbClr val="FF6B35"/>
                </a:solidFill>
                <a:latin typeface="Microsoft YaHei"/>
              </a:defRPr>
            </a:pPr>
            <a:r>
              <a:t>-&gt; "put him in real prison"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核心挑战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188720"/>
            <a:ext cx="384048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Key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挑战一：词汇重叠度高达 80%，模型容易退化为简单复制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挑战二：不同语言中毒性表达差异巨大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挑战三：多目标权衡 (清除有害 + 语义保留 + 流畅自然)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挑战四：推理效率 —— 传统回译管道极慢 (每条 ~38s)，9000 条需 50h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系统架构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188720"/>
            <a:ext cx="384048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System Architecture (直接去毒)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所有 15 种语言统一流程: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  Toxic Text --&gt; [mt0-large + LoRA 去毒模型] --&gt; [有害词后处理] --&gt; Neutral Text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核心思路：利用 mt0-large 的多语言指令微调能力，无需外部翻译模型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对比学习隐式跨语言：batch 内多语言混合 -&gt; 语言无关的"中毒性"语义空间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效率提升：每条 ~2s (vs 翻译管道 ~38s)，9000 条 5h (vs 50h)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去毒模型设计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188720"/>
            <a:ext cx="384048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mt0-large + 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基座: bigscience/mt0-large (1.2B)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Encoder-Decoder Transformer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d=1024, 16 heads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输入: "detoxify: {有毒文本}"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6B35"/>
                </a:solidFill>
                <a:latin typeface="Microsoft YaHei"/>
              </a:defRPr>
            </a:pPr>
            <a:r>
              <a:t>LoRA: r=32, alpha=64</a:t>
            </a:r>
          </a:p>
          <a:p>
            <a:pPr>
              <a:spcAft>
                <a:spcPts val="600"/>
              </a:spcAft>
              <a:defRPr sz="1500">
                <a:solidFill>
                  <a:srgbClr val="FF6B35"/>
                </a:solidFill>
                <a:latin typeface="Microsoft YaHei"/>
              </a:defRPr>
            </a:pPr>
            <a:r>
              <a:t>目标: [q,k,v,o], 1.51% 参数</a:t>
            </a:r>
          </a:p>
          <a:p>
            <a:pPr>
              <a:spcAft>
                <a:spcPts val="600"/>
              </a:spcAft>
              <a:defRPr sz="1500">
                <a:solidFill>
                  <a:srgbClr val="FF6B35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6B35"/>
                </a:solidFill>
                <a:latin typeface="Microsoft YaHei"/>
              </a:defRPr>
            </a:pPr>
            <a:r>
              <a:t>Loss: L_CE + 0.15 * L_contrastive</a:t>
            </a:r>
          </a:p>
          <a:p>
            <a:pPr>
              <a:spcAft>
                <a:spcPts val="600"/>
              </a:spcAft>
              <a:defRPr sz="1500">
                <a:solidFill>
                  <a:srgbClr val="FF6B35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6B35"/>
                </a:solidFill>
                <a:latin typeface="Microsoft YaHei"/>
              </a:defRPr>
            </a:pPr>
            <a:r>
              <a:t>训练数据: ~9,000 条 (1,000/语言)</a:t>
            </a:r>
          </a:p>
          <a:p>
            <a:pPr>
              <a:spcAft>
                <a:spcPts val="600"/>
              </a:spcAft>
              <a:defRPr sz="1500">
                <a:solidFill>
                  <a:srgbClr val="FF6B35"/>
                </a:solidFill>
                <a:latin typeface="Microsoft YaHei"/>
              </a:defRPr>
            </a:pPr>
            <a:r>
              <a:t>GPU: A40, ~4.5h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有监督对比学习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188720"/>
            <a:ext cx="384048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Supervised Contrastive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6B35"/>
                </a:solidFill>
                <a:latin typeface="Microsoft YaHei"/>
              </a:defRPr>
            </a:pPr>
            <a:r>
              <a:t>问题: 模型退化为简单复制</a:t>
            </a:r>
          </a:p>
          <a:p>
            <a:pPr>
              <a:spcAft>
                <a:spcPts val="600"/>
              </a:spcAft>
              <a:defRPr sz="1500">
                <a:solidFill>
                  <a:srgbClr val="FF6B35"/>
                </a:solidFill>
                <a:latin typeface="Microsoft YaHei"/>
              </a:defRPr>
            </a:pPr>
            <a:r>
              <a:t>SimCSE 只增强鲁棒性，不帮助去毒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toxic x -&gt; encoder -&gt; h_toxic</a:t>
            </a:r>
          </a:p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neutral y -&gt; encoder -&gt; h_neutral</a:t>
            </a:r>
          </a:p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MLP -&gt; z_toxic, z_neutral</a:t>
            </a:r>
          </a:p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NT-Xent 正对拉近/负对推远</a:t>
            </a:r>
          </a:p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batch 内多语言混合 -&gt; 隐式跨语言对比</a:t>
            </a:r>
          </a:p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帮助零资源语言直接去毒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训练过程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188720"/>
            <a:ext cx="384048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Training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Batch: 8x4=32, lr=3e-4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AdamW, wd=0.01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Epochs: 15 (Early Stop p=5)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Loss 变化:</a:t>
            </a:r>
          </a:p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  ep 1:  2.09</a:t>
            </a:r>
          </a:p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  ep 5:  1.29</a:t>
            </a:r>
          </a:p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  ep 7:  1.05 (eval 0.99)</a:t>
            </a:r>
          </a:p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  ep 11: 0.89</a:t>
            </a:r>
          </a:p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  ep 15: 0.85 (eval 0.86)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实验结果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188720"/>
            <a:ext cx="384048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最终 eval_loss = 0.864，无过拟合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德语: Scheisse -&gt; Quatsch   |  阿拉伯语: 狗屎 -&gt; 那个人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印地语: 三连脏话 -&gt; 整句重建  |  中文: 脑残粉 -&gt; 不明智的人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推理效率: 直接去毒 ~2s/条  vs  回译管道 ~38s/条 (快 15 倍)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复制行为被有效抑制，模型进行真正的语义改写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消融实验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188720"/>
            <a:ext cx="384048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去除对比学习: -&gt; 模型直接复制，只替换明显有害词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去除有害词后处理: -&gt; 残留少量罕用俚语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mT5-base 替代 mt0-large: -&gt; 对 detoxify 指令理解不足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188720"/>
            <a:ext cx="384048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主要贡献:</a:t>
            </a:r>
          </a:p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  mt0-large 多语言直接去毒</a:t>
            </a:r>
          </a:p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  有监督对比学习抑制复制</a:t>
            </a:r>
          </a:p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  推理效率提升 15 倍</a:t>
            </a:r>
          </a:p>
          <a:p>
            <a:pPr>
              <a:spcAft>
                <a:spcPts val="600"/>
              </a:spcAft>
              <a:defRPr sz="1500">
                <a:solidFill>
                  <a:srgbClr val="00A878"/>
                </a:solidFill>
                <a:latin typeface="Microsoft YaHei"/>
              </a:defRPr>
            </a:pPr>
            <a:r>
              <a:t>  有害词后处理安全保障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0" y="2011680"/>
            <a:ext cx="0" cy="365760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6B35"/>
                </a:solidFill>
                <a:latin typeface="Microsoft YaHei"/>
              </a:defRPr>
            </a:pPr>
            <a:r>
              <a:t>未来方向:</a:t>
            </a:r>
          </a:p>
          <a:p>
            <a:pPr>
              <a:spcAft>
                <a:spcPts val="600"/>
              </a:spcAft>
              <a:defRPr sz="1500">
                <a:solidFill>
                  <a:srgbClr val="FF6B35"/>
                </a:solidFill>
                <a:latin typeface="Microsoft YaHei"/>
              </a:defRPr>
            </a:pPr>
            <a:r>
              <a:t>  RLHF 优化去毒质量</a:t>
            </a:r>
          </a:p>
          <a:p>
            <a:pPr>
              <a:spcAft>
                <a:spcPts val="600"/>
              </a:spcAft>
              <a:defRPr sz="1500">
                <a:solidFill>
                  <a:srgbClr val="FF6B35"/>
                </a:solidFill>
                <a:latin typeface="Microsoft YaHei"/>
              </a:defRPr>
            </a:pPr>
            <a:r>
              <a:t>  更大模型 + 多任务学习</a:t>
            </a:r>
          </a:p>
          <a:p>
            <a:pPr>
              <a:spcAft>
                <a:spcPts val="600"/>
              </a:spcAft>
              <a:defRPr sz="1500">
                <a:solidFill>
                  <a:srgbClr val="FF6B35"/>
                </a:solidFill>
                <a:latin typeface="Microsoft YaHei"/>
              </a:defRPr>
            </a:pPr>
            <a:r>
              <a:t>  量化部署加速推理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谢谢!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8D4"/>
                </a:solidFill>
                <a:latin typeface="Microsoft YaHe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